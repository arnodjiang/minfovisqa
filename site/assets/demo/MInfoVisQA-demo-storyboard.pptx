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2614910a20444d" /><Relationship Type="http://schemas.openxmlformats.org/officeDocument/2006/relationships/extended-properties" Target="/docProps/app.xml" Id="R47fa829df9054e98" /><Relationship Type="http://schemas.openxmlformats.org/officeDocument/2006/relationships/officeDocument" Target="/ppt/presentation.xml" Id="R4034e735683f47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1c8f541d0749bd"/>
  </p:sldMasterIdLst>
  <p:notesMasterIdLst>
    <p:notesMasterId xmlns:r="http://schemas.openxmlformats.org/officeDocument/2006/relationships" r:id="Rb25804050b2f4bc7"/>
  </p:notesMasterIdLst>
  <p:sldIdLst>
    <p:sldId xmlns:r="http://schemas.openxmlformats.org/officeDocument/2006/relationships" id="256" r:id="R2279029188c447b6"/>
    <p:sldId xmlns:r="http://schemas.openxmlformats.org/officeDocument/2006/relationships" id="257" r:id="Re40b8a1be2b84cd4"/>
    <p:sldId xmlns:r="http://schemas.openxmlformats.org/officeDocument/2006/relationships" id="258" r:id="R78a48b5f4e0041d2"/>
    <p:sldId xmlns:r="http://schemas.openxmlformats.org/officeDocument/2006/relationships" id="259" r:id="R7135abf580a2485f"/>
    <p:sldId xmlns:r="http://schemas.openxmlformats.org/officeDocument/2006/relationships" id="260" r:id="Rfc165f6522eb4b12"/>
    <p:sldId xmlns:r="http://schemas.openxmlformats.org/officeDocument/2006/relationships" id="261" r:id="R29baf15b4cbc4d1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08c40b54f04a11" /><Relationship Type="http://schemas.openxmlformats.org/officeDocument/2006/relationships/slideMaster" Target="/ppt/slideMasters/slideMaster1.xml" Id="R2e1c8f541d0749bd" /><Relationship Type="http://schemas.openxmlformats.org/officeDocument/2006/relationships/notesMaster" Target="/ppt/notesMasters/notesMaster1.xml" Id="Rb25804050b2f4bc7" /><Relationship Type="http://schemas.openxmlformats.org/officeDocument/2006/relationships/presProps" Target="/ppt/presProps.xml" Id="R3937c00e1b794c6d" /><Relationship Type="http://schemas.openxmlformats.org/officeDocument/2006/relationships/tableStyles" Target="/ppt/tableStyles.xml" Id="R419b8741ca99401c" /><Relationship Type="http://schemas.openxmlformats.org/officeDocument/2006/relationships/slide" Target="/ppt/slides/slide1.xml" Id="R2279029188c447b6" /><Relationship Type="http://schemas.openxmlformats.org/officeDocument/2006/relationships/slide" Target="/ppt/slides/slide2.xml" Id="Re40b8a1be2b84cd4" /><Relationship Type="http://schemas.openxmlformats.org/officeDocument/2006/relationships/slide" Target="/ppt/slides/slide3.xml" Id="R78a48b5f4e0041d2" /><Relationship Type="http://schemas.openxmlformats.org/officeDocument/2006/relationships/slide" Target="/ppt/slides/slide4.xml" Id="R7135abf580a2485f" /><Relationship Type="http://schemas.openxmlformats.org/officeDocument/2006/relationships/slide" Target="/ppt/slides/slide5.xml" Id="Rfc165f6522eb4b12" /><Relationship Type="http://schemas.openxmlformats.org/officeDocument/2006/relationships/slide" Target="/ppt/slides/slide6.xml" Id="R29baf15b4cbc4d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a1eaec9aeb40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65351ee67f41ed" /><Relationship Type="http://schemas.openxmlformats.org/officeDocument/2006/relationships/notesMaster" Target="/ppt/notesMasters/notesMaster1.xml" Id="Re75acad36cb142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d229bcbe434daf" /><Relationship Type="http://schemas.openxmlformats.org/officeDocument/2006/relationships/notesMaster" Target="/ppt/notesMasters/notesMaster1.xml" Id="R733125432d054f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7ee9dac48d4682" /><Relationship Type="http://schemas.openxmlformats.org/officeDocument/2006/relationships/notesMaster" Target="/ppt/notesMasters/notesMaster1.xml" Id="R50d3708d51bb48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25085649dc401c" /><Relationship Type="http://schemas.openxmlformats.org/officeDocument/2006/relationships/notesMaster" Target="/ppt/notesMasters/notesMaster1.xml" Id="Rbbeafd164a584e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6d1777a8f14b63" /><Relationship Type="http://schemas.openxmlformats.org/officeDocument/2006/relationships/notesMaster" Target="/ppt/notesMasters/notesMaster1.xml" Id="R389c409130b448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9eb61f67c44937" /><Relationship Type="http://schemas.openxmlformats.org/officeDocument/2006/relationships/notesMaster" Target="/ppt/notesMasters/notesMaster1.xml" Id="Re6a0313c07ab4f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https://huggingface.co/datasets/arnodjiang/MInfoVisQA ; site/assets/demo/evidence.json and transcript.html. Scene 1 of the 46-second research demonstration. Real images are independent replaceable objects. Text and shapes editable; radar native chart. Observed EN/JA case is one recorded pair; radar is LQA, distinct from fixed-English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https://huggingface.co/datasets/arnodjiang/MInfoVisQA ; site/assets/demo/evidence.json and transcript.html. Scene 2 of the 46-second research demonstration. Real images are independent replaceable objects. Text and shapes editable; radar native chart. Observed EN/JA case is one recorded pair; radar is LQA, distinct from fixed-English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https://huggingface.co/datasets/arnodjiang/MInfoVisQA ; site/assets/demo/evidence.json and transcript.html. Scene 3 of the 46-second research demonstration. Real images are independent replaceable objects. Text and shapes editable; radar native chart. Observed EN/JA case is one recorded pair; radar is LQA, distinct from fixed-English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https://huggingface.co/datasets/arnodjiang/MInfoVisQA ; site/assets/demo/evidence.json and transcript.html. Scene 4 of the 46-second research demonstration. Real images are independent replaceable objects. Text and shapes editable; radar native chart. Observed EN/JA case is one recorded pair; radar is LQA, distinct from fixed-English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https://huggingface.co/datasets/arnodjiang/MInfoVisQA ; site/assets/demo/evidence.json and transcript.html. Scene 5 of the 46-second research demonstration. Real images are independent replaceable objects. Text and shapes editable; radar native chart. Observed EN/JA case is one recorded pair; radar is LQA, distinct from fixed-English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https://huggingface.co/datasets/arnodjiang/MInfoVisQA ; site/assets/demo/evidence.json and transcript.html. Scene 6 of the 46-second research demonstration. Real images are independent replaceable objects. Text and shapes editable; radar native chart. Observed EN/JA case is one recorded pair; radar is LQA, distinct from fixed-English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9d26d12a14c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f1e308a7a46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0b948ea6b41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1a24b5ad945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739912f4640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98e14ef2e48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FAFC3C-9F74-498B-B678-66D8EC0F78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5FA601-DFE6-4BF6-AFF9-1C5267FB85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16E013-87EB-4CF1-B948-9FE8217DF3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E1FD3B-2B1F-463D-BF32-263E35986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3E0844-00B1-49AB-BD50-34A310B7B7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EECA8B-3E29-421F-B07F-7A48BCBCD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E27360-8033-483B-B0CF-993A7FD09D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696E6F-0416-47E5-955C-BFF09ADF1B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4D9CF5-F325-4B6B-B659-45816BF108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9A97E6-BADD-4AF6-B9E1-D22A88439D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eaea6f439a4fad" /><Relationship Type="http://schemas.openxmlformats.org/officeDocument/2006/relationships/slideLayout" Target="/ppt/slideLayouts/slideLayout1.xml" Id="R6c928ea96c6d4042" /><Relationship Type="http://schemas.openxmlformats.org/officeDocument/2006/relationships/slideLayout" Target="/ppt/slideLayouts/slideLayout2.xml" Id="R0cd0084d9c93491f" /><Relationship Type="http://schemas.openxmlformats.org/officeDocument/2006/relationships/slideLayout" Target="/ppt/slideLayouts/slideLayout3.xml" Id="R407a993b4a7d4c69" /><Relationship Type="http://schemas.openxmlformats.org/officeDocument/2006/relationships/slideLayout" Target="/ppt/slideLayouts/slideLayout4.xml" Id="Ra35744fd7dcb48d2" /><Relationship Type="http://schemas.openxmlformats.org/officeDocument/2006/relationships/slideLayout" Target="/ppt/slideLayouts/slideLayout5.xml" Id="R1982a07edebe48ea" /><Relationship Type="http://schemas.openxmlformats.org/officeDocument/2006/relationships/slideLayout" Target="/ppt/slideLayouts/slideLayout6.xml" Id="Rc663db3c732743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928ea96c6d4042"/>
    <p:sldLayoutId xmlns:r="http://schemas.openxmlformats.org/officeDocument/2006/relationships" id="2147483650" r:id="R0cd0084d9c93491f"/>
    <p:sldLayoutId xmlns:r="http://schemas.openxmlformats.org/officeDocument/2006/relationships" id="2147483651" r:id="R407a993b4a7d4c69"/>
    <p:sldLayoutId xmlns:r="http://schemas.openxmlformats.org/officeDocument/2006/relationships" id="2147483652" r:id="Ra35744fd7dcb48d2"/>
    <p:sldLayoutId xmlns:r="http://schemas.openxmlformats.org/officeDocument/2006/relationships" id="2147483653" r:id="R1982a07edebe48ea"/>
    <p:sldLayoutId xmlns:r="http://schemas.openxmlformats.org/officeDocument/2006/relationships" id="2147483654" r:id="Rc663db3c732743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2c5bc7f2e47b2" /><Relationship Type="http://schemas.openxmlformats.org/officeDocument/2006/relationships/image" Target="/ppt/media/image.png" Id="Rfae282111a194463" /><Relationship Type="http://schemas.openxmlformats.org/officeDocument/2006/relationships/notesSlide" Target="/ppt/notesSlides/notesSlide1.xml" Id="R500ae6d58fb2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d9c76cd5c4499" /><Relationship Type="http://schemas.openxmlformats.org/officeDocument/2006/relationships/image" Target="/ppt/media/image2.png" Id="R81db65aabbc343db" /><Relationship Type="http://schemas.openxmlformats.org/officeDocument/2006/relationships/notesSlide" Target="/ppt/notesSlides/notesSlide2.xml" Id="R57f6577a4caf48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1f913b79c47c8" /><Relationship Type="http://schemas.openxmlformats.org/officeDocument/2006/relationships/image" Target="/ppt/media/image3.png" Id="R74174829b75c487f" /><Relationship Type="http://schemas.openxmlformats.org/officeDocument/2006/relationships/image" Target="/ppt/media/image4.png" Id="Re6b1457c23da4168" /><Relationship Type="http://schemas.openxmlformats.org/officeDocument/2006/relationships/notesSlide" Target="/ppt/notesSlides/notesSlide3.xml" Id="Rdc3eb1e1115d43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08d6102ff4f83" /><Relationship Type="http://schemas.openxmlformats.org/officeDocument/2006/relationships/image" Target="/ppt/media/image5.png" Id="Rc17c42085c6e4e64" /><Relationship Type="http://schemas.openxmlformats.org/officeDocument/2006/relationships/image" Target="/ppt/media/image6.png" Id="R6147370685514af7" /><Relationship Type="http://schemas.openxmlformats.org/officeDocument/2006/relationships/notesSlide" Target="/ppt/notesSlides/notesSlide4.xml" Id="R1bbe4db9304a4e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df22c6f0de4f10" /><Relationship Type="http://schemas.openxmlformats.org/officeDocument/2006/relationships/chart" Target="/ppt/slides/charts/chart1.xml" Id="R066ceca8817f4905" /><Relationship Type="http://schemas.openxmlformats.org/officeDocument/2006/relationships/notesSlide" Target="/ppt/notesSlides/notesSlide5.xml" Id="R646a948908ba47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70ef09b894843" /><Relationship Type="http://schemas.openxmlformats.org/officeDocument/2006/relationships/notesSlide" Target="/ppt/notesSlides/notesSlide6.xml" Id="R1348730e979b45f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radarChart>
        <c:radarStyle val="standard"/>
        <c:ser>
          <c:idx val="0"/>
          <c:order val="0"/>
          <c:tx>
            <c:v>GPT-6-Astra</c:v>
          </c:tx>
          <c:spPr>
            <a:noFill xmlns:a="http://schemas.openxmlformats.org/drawingml/2006/main"/>
            <a:ln xmlns:a="http://schemas.openxmlformats.org/drawingml/2006/main" w="28575">
              <a:solidFill>
                <a:srgbClr val="925EA7"/>
              </a:solidFill>
            </a:ln>
          </c:spPr>
          <c:cat>
            <c:strRef>
              <c:f>'Chart Data'!$A$2:$A$25</c:f>
              <c:strCache>
                <c:ptCount val="24"/>
                <c:pt idx="0">
                  <c:v>EN</c:v>
                </c:pt>
                <c:pt idx="1">
                  <c:v>ZH</c:v>
                </c:pt>
                <c:pt idx="2">
                  <c:v>JA</c:v>
                </c:pt>
                <c:pt idx="3">
                  <c:v>KO</c:v>
                </c:pt>
                <c:pt idx="4">
                  <c:v>FR</c:v>
                </c:pt>
                <c:pt idx="5">
                  <c:v>DE</c:v>
                </c:pt>
                <c:pt idx="6">
                  <c:v>ES</c:v>
                </c:pt>
                <c:pt idx="7">
                  <c:v>PT</c:v>
                </c:pt>
                <c:pt idx="8">
                  <c:v>RU</c:v>
                </c:pt>
                <c:pt idx="9">
                  <c:v>AR</c:v>
                </c:pt>
                <c:pt idx="10">
                  <c:v>HI</c:v>
                </c:pt>
                <c:pt idx="11">
                  <c:v>IT</c:v>
                </c:pt>
                <c:pt idx="12">
                  <c:v>NL</c:v>
                </c:pt>
                <c:pt idx="13">
                  <c:v>PL</c:v>
                </c:pt>
                <c:pt idx="14">
                  <c:v>TR</c:v>
                </c:pt>
                <c:pt idx="15">
                  <c:v>VI</c:v>
                </c:pt>
                <c:pt idx="16">
                  <c:v>ID</c:v>
                </c:pt>
                <c:pt idx="17">
                  <c:v>TH</c:v>
                </c:pt>
                <c:pt idx="18">
                  <c:v>SW</c:v>
                </c:pt>
                <c:pt idx="19">
                  <c:v>FA</c:v>
                </c:pt>
                <c:pt idx="20">
                  <c:v>UR</c:v>
                </c:pt>
                <c:pt idx="21">
                  <c:v>BN</c:v>
                </c:pt>
                <c:pt idx="22">
                  <c:v>TA</c:v>
                </c:pt>
                <c:pt idx="23">
                  <c:v>TE</c:v>
                </c:pt>
              </c:strCache>
            </c:strRef>
          </c:cat>
          <c:val>
            <c:numRef>
              <c:f>'Chart Data'!$B$2:$B$25</c:f>
              <c:numCache>
                <c:formatCode>General</c:formatCode>
                <c:ptCount val="24"/>
                <c:pt idx="0">
                  <c:v>86.7</c:v>
                </c:pt>
                <c:pt idx="1">
                  <c:v>85.2</c:v>
                </c:pt>
                <c:pt idx="2">
                  <c:v>83.6</c:v>
                </c:pt>
                <c:pt idx="3">
                  <c:v>84.4</c:v>
                </c:pt>
                <c:pt idx="4">
                  <c:v>82.8</c:v>
                </c:pt>
                <c:pt idx="5">
                  <c:v>84.4</c:v>
                </c:pt>
                <c:pt idx="6">
                  <c:v>82.8</c:v>
                </c:pt>
                <c:pt idx="7">
                  <c:v>82</c:v>
                </c:pt>
                <c:pt idx="8">
                  <c:v>84.4</c:v>
                </c:pt>
                <c:pt idx="9">
                  <c:v>82</c:v>
                </c:pt>
                <c:pt idx="10">
                  <c:v>79.7</c:v>
                </c:pt>
                <c:pt idx="11">
                  <c:v>84.4</c:v>
                </c:pt>
                <c:pt idx="12">
                  <c:v>84.4</c:v>
                </c:pt>
                <c:pt idx="13">
                  <c:v>83.6</c:v>
                </c:pt>
                <c:pt idx="14">
                  <c:v>82</c:v>
                </c:pt>
                <c:pt idx="15">
                  <c:v>83.6</c:v>
                </c:pt>
                <c:pt idx="16">
                  <c:v>82</c:v>
                </c:pt>
                <c:pt idx="17">
                  <c:v>81.2</c:v>
                </c:pt>
                <c:pt idx="18">
                  <c:v>85.2</c:v>
                </c:pt>
                <c:pt idx="19">
                  <c:v>82.8</c:v>
                </c:pt>
                <c:pt idx="20">
                  <c:v>79.7</c:v>
                </c:pt>
                <c:pt idx="21">
                  <c:v>82</c:v>
                </c:pt>
                <c:pt idx="22">
                  <c:v>81.2</c:v>
                </c:pt>
                <c:pt idx="23">
                  <c:v>77.3</c:v>
                </c:pt>
              </c:numCache>
            </c:numRef>
          </c:val>
        </c:ser>
        <c:ser>
          <c:idx val="1"/>
          <c:order val="1"/>
          <c:tx>
            <c:v>Gemini-3.8-Flash</c:v>
          </c:tx>
          <c:spPr>
            <a:noFill xmlns:a="http://schemas.openxmlformats.org/drawingml/2006/main"/>
            <a:ln xmlns:a="http://schemas.openxmlformats.org/drawingml/2006/main" w="28575">
              <a:solidFill>
                <a:srgbClr val="327D83"/>
              </a:solidFill>
            </a:ln>
          </c:spPr>
          <c:cat>
            <c:strRef>
              <c:f>'Chart Data'!$C$2:$C$25</c:f>
              <c:strCache>
                <c:ptCount val="24"/>
                <c:pt idx="0">
                  <c:v>EN</c:v>
                </c:pt>
                <c:pt idx="1">
                  <c:v>ZH</c:v>
                </c:pt>
                <c:pt idx="2">
                  <c:v>JA</c:v>
                </c:pt>
                <c:pt idx="3">
                  <c:v>KO</c:v>
                </c:pt>
                <c:pt idx="4">
                  <c:v>FR</c:v>
                </c:pt>
                <c:pt idx="5">
                  <c:v>DE</c:v>
                </c:pt>
                <c:pt idx="6">
                  <c:v>ES</c:v>
                </c:pt>
                <c:pt idx="7">
                  <c:v>PT</c:v>
                </c:pt>
                <c:pt idx="8">
                  <c:v>RU</c:v>
                </c:pt>
                <c:pt idx="9">
                  <c:v>AR</c:v>
                </c:pt>
                <c:pt idx="10">
                  <c:v>HI</c:v>
                </c:pt>
                <c:pt idx="11">
                  <c:v>IT</c:v>
                </c:pt>
                <c:pt idx="12">
                  <c:v>NL</c:v>
                </c:pt>
                <c:pt idx="13">
                  <c:v>PL</c:v>
                </c:pt>
                <c:pt idx="14">
                  <c:v>TR</c:v>
                </c:pt>
                <c:pt idx="15">
                  <c:v>VI</c:v>
                </c:pt>
                <c:pt idx="16">
                  <c:v>ID</c:v>
                </c:pt>
                <c:pt idx="17">
                  <c:v>TH</c:v>
                </c:pt>
                <c:pt idx="18">
                  <c:v>SW</c:v>
                </c:pt>
                <c:pt idx="19">
                  <c:v>FA</c:v>
                </c:pt>
                <c:pt idx="20">
                  <c:v>UR</c:v>
                </c:pt>
                <c:pt idx="21">
                  <c:v>BN</c:v>
                </c:pt>
                <c:pt idx="22">
                  <c:v>TA</c:v>
                </c:pt>
                <c:pt idx="23">
                  <c:v>TE</c:v>
                </c:pt>
              </c:strCache>
            </c:strRef>
          </c:cat>
          <c:val>
            <c:numRef>
              <c:f>'Chart Data'!$D$2:$D$25</c:f>
              <c:numCache>
                <c:formatCode>General</c:formatCode>
                <c:ptCount val="24"/>
                <c:pt idx="0">
                  <c:v>82.8</c:v>
                </c:pt>
                <c:pt idx="1">
                  <c:v>78.1</c:v>
                </c:pt>
                <c:pt idx="2">
                  <c:v>80.5</c:v>
                </c:pt>
                <c:pt idx="3">
                  <c:v>82.8</c:v>
                </c:pt>
                <c:pt idx="4">
                  <c:v>83.6</c:v>
                </c:pt>
                <c:pt idx="5">
                  <c:v>79.7</c:v>
                </c:pt>
                <c:pt idx="6">
                  <c:v>80.5</c:v>
                </c:pt>
                <c:pt idx="7">
                  <c:v>80.5</c:v>
                </c:pt>
                <c:pt idx="8">
                  <c:v>84.4</c:v>
                </c:pt>
                <c:pt idx="9">
                  <c:v>78.1</c:v>
                </c:pt>
                <c:pt idx="10">
                  <c:v>82.8</c:v>
                </c:pt>
                <c:pt idx="11">
                  <c:v>81.2</c:v>
                </c:pt>
                <c:pt idx="12">
                  <c:v>81.2</c:v>
                </c:pt>
                <c:pt idx="13">
                  <c:v>78.1</c:v>
                </c:pt>
                <c:pt idx="14">
                  <c:v>79.7</c:v>
                </c:pt>
                <c:pt idx="15">
                  <c:v>84.4</c:v>
                </c:pt>
                <c:pt idx="16">
                  <c:v>80.5</c:v>
                </c:pt>
                <c:pt idx="17">
                  <c:v>79.7</c:v>
                </c:pt>
                <c:pt idx="18">
                  <c:v>78.9</c:v>
                </c:pt>
                <c:pt idx="19">
                  <c:v>79.7</c:v>
                </c:pt>
                <c:pt idx="20">
                  <c:v>77.3</c:v>
                </c:pt>
                <c:pt idx="21">
                  <c:v>80.5</c:v>
                </c:pt>
                <c:pt idx="22">
                  <c:v>76.6</c:v>
                </c:pt>
                <c:pt idx="23">
                  <c:v>77.3</c:v>
                </c:pt>
              </c:numCache>
            </c:numRef>
          </c:val>
        </c:ser>
        <c:ser>
          <c:idx val="2"/>
          <c:order val="2"/>
          <c:tx>
            <c:v>GPT-5.6-Luna</c:v>
          </c:tx>
          <c:spPr>
            <a:noFill xmlns:a="http://schemas.openxmlformats.org/drawingml/2006/main"/>
            <a:ln xmlns:a="http://schemas.openxmlformats.org/drawingml/2006/main" w="28575">
              <a:solidFill>
                <a:srgbClr val="154677"/>
              </a:solidFill>
            </a:ln>
          </c:spPr>
          <c:cat>
            <c:strRef>
              <c:f>'Chart Data'!$E$2:$E$25</c:f>
              <c:strCache>
                <c:ptCount val="24"/>
                <c:pt idx="0">
                  <c:v>EN</c:v>
                </c:pt>
                <c:pt idx="1">
                  <c:v>ZH</c:v>
                </c:pt>
                <c:pt idx="2">
                  <c:v>JA</c:v>
                </c:pt>
                <c:pt idx="3">
                  <c:v>KO</c:v>
                </c:pt>
                <c:pt idx="4">
                  <c:v>FR</c:v>
                </c:pt>
                <c:pt idx="5">
                  <c:v>DE</c:v>
                </c:pt>
                <c:pt idx="6">
                  <c:v>ES</c:v>
                </c:pt>
                <c:pt idx="7">
                  <c:v>PT</c:v>
                </c:pt>
                <c:pt idx="8">
                  <c:v>RU</c:v>
                </c:pt>
                <c:pt idx="9">
                  <c:v>AR</c:v>
                </c:pt>
                <c:pt idx="10">
                  <c:v>HI</c:v>
                </c:pt>
                <c:pt idx="11">
                  <c:v>IT</c:v>
                </c:pt>
                <c:pt idx="12">
                  <c:v>NL</c:v>
                </c:pt>
                <c:pt idx="13">
                  <c:v>PL</c:v>
                </c:pt>
                <c:pt idx="14">
                  <c:v>TR</c:v>
                </c:pt>
                <c:pt idx="15">
                  <c:v>VI</c:v>
                </c:pt>
                <c:pt idx="16">
                  <c:v>ID</c:v>
                </c:pt>
                <c:pt idx="17">
                  <c:v>TH</c:v>
                </c:pt>
                <c:pt idx="18">
                  <c:v>SW</c:v>
                </c:pt>
                <c:pt idx="19">
                  <c:v>FA</c:v>
                </c:pt>
                <c:pt idx="20">
                  <c:v>UR</c:v>
                </c:pt>
                <c:pt idx="21">
                  <c:v>BN</c:v>
                </c:pt>
                <c:pt idx="22">
                  <c:v>TA</c:v>
                </c:pt>
                <c:pt idx="23">
                  <c:v>TE</c:v>
                </c:pt>
              </c:strCache>
            </c:strRef>
          </c:cat>
          <c:val>
            <c:numRef>
              <c:f>'Chart Data'!$F$2:$F$25</c:f>
              <c:numCache>
                <c:formatCode>General</c:formatCode>
                <c:ptCount val="24"/>
                <c:pt idx="0">
                  <c:v>79.7</c:v>
                </c:pt>
                <c:pt idx="1">
                  <c:v>74.2</c:v>
                </c:pt>
                <c:pt idx="2">
                  <c:v>74.2</c:v>
                </c:pt>
                <c:pt idx="3">
                  <c:v>76.6</c:v>
                </c:pt>
                <c:pt idx="4">
                  <c:v>76.6</c:v>
                </c:pt>
                <c:pt idx="5">
                  <c:v>78.1</c:v>
                </c:pt>
                <c:pt idx="6">
                  <c:v>75.8</c:v>
                </c:pt>
                <c:pt idx="7">
                  <c:v>77.3</c:v>
                </c:pt>
                <c:pt idx="8">
                  <c:v>75</c:v>
                </c:pt>
                <c:pt idx="9">
                  <c:v>75.8</c:v>
                </c:pt>
                <c:pt idx="10">
                  <c:v>74.2</c:v>
                </c:pt>
                <c:pt idx="11">
                  <c:v>77.3</c:v>
                </c:pt>
                <c:pt idx="12">
                  <c:v>77.3</c:v>
                </c:pt>
                <c:pt idx="13">
                  <c:v>81.2</c:v>
                </c:pt>
                <c:pt idx="14">
                  <c:v>77.3</c:v>
                </c:pt>
                <c:pt idx="15">
                  <c:v>80.5</c:v>
                </c:pt>
                <c:pt idx="16">
                  <c:v>77.3</c:v>
                </c:pt>
                <c:pt idx="17">
                  <c:v>73.4</c:v>
                </c:pt>
                <c:pt idx="18">
                  <c:v>75.8</c:v>
                </c:pt>
                <c:pt idx="19">
                  <c:v>72.7</c:v>
                </c:pt>
                <c:pt idx="20">
                  <c:v>69.5</c:v>
                </c:pt>
                <c:pt idx="21">
                  <c:v>70.3</c:v>
                </c:pt>
                <c:pt idx="22">
                  <c:v>73.4</c:v>
                </c:pt>
                <c:pt idx="23">
                  <c:v>53.1</c:v>
                </c:pt>
              </c:numCache>
            </c:numRef>
          </c:val>
        </c:ser>
        <c:ser>
          <c:idx val="3"/>
          <c:order val="3"/>
          <c:tx>
            <c:v>Qwen3.5-9B</c:v>
          </c:tx>
          <c:spPr>
            <a:noFill xmlns:a="http://schemas.openxmlformats.org/drawingml/2006/main"/>
            <a:ln xmlns:a="http://schemas.openxmlformats.org/drawingml/2006/main" w="28575">
              <a:solidFill>
                <a:srgbClr val="C99E48"/>
              </a:solidFill>
            </a:ln>
          </c:spPr>
          <c:cat>
            <c:strRef>
              <c:f>'Chart Data'!$G$2:$G$25</c:f>
              <c:strCache>
                <c:ptCount val="24"/>
                <c:pt idx="0">
                  <c:v>EN</c:v>
                </c:pt>
                <c:pt idx="1">
                  <c:v>ZH</c:v>
                </c:pt>
                <c:pt idx="2">
                  <c:v>JA</c:v>
                </c:pt>
                <c:pt idx="3">
                  <c:v>KO</c:v>
                </c:pt>
                <c:pt idx="4">
                  <c:v>FR</c:v>
                </c:pt>
                <c:pt idx="5">
                  <c:v>DE</c:v>
                </c:pt>
                <c:pt idx="6">
                  <c:v>ES</c:v>
                </c:pt>
                <c:pt idx="7">
                  <c:v>PT</c:v>
                </c:pt>
                <c:pt idx="8">
                  <c:v>RU</c:v>
                </c:pt>
                <c:pt idx="9">
                  <c:v>AR</c:v>
                </c:pt>
                <c:pt idx="10">
                  <c:v>HI</c:v>
                </c:pt>
                <c:pt idx="11">
                  <c:v>IT</c:v>
                </c:pt>
                <c:pt idx="12">
                  <c:v>NL</c:v>
                </c:pt>
                <c:pt idx="13">
                  <c:v>PL</c:v>
                </c:pt>
                <c:pt idx="14">
                  <c:v>TR</c:v>
                </c:pt>
                <c:pt idx="15">
                  <c:v>VI</c:v>
                </c:pt>
                <c:pt idx="16">
                  <c:v>ID</c:v>
                </c:pt>
                <c:pt idx="17">
                  <c:v>TH</c:v>
                </c:pt>
                <c:pt idx="18">
                  <c:v>SW</c:v>
                </c:pt>
                <c:pt idx="19">
                  <c:v>FA</c:v>
                </c:pt>
                <c:pt idx="20">
                  <c:v>UR</c:v>
                </c:pt>
                <c:pt idx="21">
                  <c:v>BN</c:v>
                </c:pt>
                <c:pt idx="22">
                  <c:v>TA</c:v>
                </c:pt>
                <c:pt idx="23">
                  <c:v>TE</c:v>
                </c:pt>
              </c:strCache>
            </c:strRef>
          </c:cat>
          <c:val>
            <c:numRef>
              <c:f>'Chart Data'!$H$2:$H$25</c:f>
              <c:numCache>
                <c:formatCode>General</c:formatCode>
                <c:ptCount val="24"/>
                <c:pt idx="0">
                  <c:v>57.8</c:v>
                </c:pt>
                <c:pt idx="1">
                  <c:v>52.3</c:v>
                </c:pt>
                <c:pt idx="2">
                  <c:v>51.6</c:v>
                </c:pt>
                <c:pt idx="3">
                  <c:v>50</c:v>
                </c:pt>
                <c:pt idx="4">
                  <c:v>53.9</c:v>
                </c:pt>
                <c:pt idx="5">
                  <c:v>56.2</c:v>
                </c:pt>
                <c:pt idx="6">
                  <c:v>54.7</c:v>
                </c:pt>
                <c:pt idx="7">
                  <c:v>52.3</c:v>
                </c:pt>
                <c:pt idx="8">
                  <c:v>53.1</c:v>
                </c:pt>
                <c:pt idx="9">
                  <c:v>50</c:v>
                </c:pt>
                <c:pt idx="10">
                  <c:v>49.2</c:v>
                </c:pt>
                <c:pt idx="11">
                  <c:v>54.7</c:v>
                </c:pt>
                <c:pt idx="12">
                  <c:v>60.2</c:v>
                </c:pt>
                <c:pt idx="13">
                  <c:v>54.7</c:v>
                </c:pt>
                <c:pt idx="14">
                  <c:v>53.1</c:v>
                </c:pt>
                <c:pt idx="15">
                  <c:v>51.6</c:v>
                </c:pt>
                <c:pt idx="16">
                  <c:v>53.9</c:v>
                </c:pt>
                <c:pt idx="17">
                  <c:v>44.5</c:v>
                </c:pt>
                <c:pt idx="18">
                  <c:v>46.9</c:v>
                </c:pt>
                <c:pt idx="19">
                  <c:v>47.7</c:v>
                </c:pt>
                <c:pt idx="20">
                  <c:v>38.3</c:v>
                </c:pt>
                <c:pt idx="21">
                  <c:v>49.2</c:v>
                </c:pt>
                <c:pt idx="22">
                  <c:v>46.1</c:v>
                </c:pt>
                <c:pt idx="23">
                  <c:v>28.1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CE3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3082B-D6E5-4444-9818-A334587B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MInfoVisQA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37BD5-7047-4E3F-B2B1-BA7FBEAF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57200"/>
            <a:ext cx="4038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SAME INFORMATION / NEW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CFA38-253A-440C-AEC8-7708FCF9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57250"/>
            <a:ext cx="1691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FD553-B158-4BBC-B7AE-6F1D2612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20275"/>
            <a:ext cx="36195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Charts + visual tables  /  24 languages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752B0-5B3E-4057-9DF2-09422F11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820275"/>
            <a:ext cx="8953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01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02631-7CD1-4C53-AEEC-F20DA131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7715250" cy="117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66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Same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CEA0F-974E-4D21-B502-40D8E6F3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8258175" cy="117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600" b="1">
                <a:solidFill>
                  <a:srgbClr val="327D8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327D83"/>
                </a:solidFill>
                <a:latin typeface="Comic Sans MS"/>
                <a:ea typeface="Comic Sans MS"/>
                <a:cs typeface="Comic Sans MS"/>
              </a:defRPr>
            </a:pPr>
            <a:r>
              <a:rPr sz="6600" b="1">
                <a:solidFill>
                  <a:srgbClr val="327D83"/>
                </a:solidFill>
                <a:latin typeface="Comic Sans MS"/>
                <a:ea typeface="Comic Sans MS"/>
                <a:cs typeface="Comic Sans MS"/>
              </a:rPr>
              <a:t>Different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1F287-6D3B-43CE-8758-E01646F8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7181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7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337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7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rPr>
              <a:t>Can a model still find the same answer?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EBD3E-290D-43F5-B342-D8A7AEE5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9725"/>
            <a:ext cx="79914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64DEC-FA1B-40B7-B334-D5C236EF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95975"/>
            <a:ext cx="3590925" cy="773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3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43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MInfoVisQA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B4AC7-9362-4233-A31A-1FCFBE84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48450"/>
            <a:ext cx="4343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rPr>
              <a:t>A multilingual benchmark for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1CE7A-CE62-458A-A53B-C4143592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96125"/>
            <a:ext cx="6162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rPr>
              <a:t>information-rich visual question answering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C2181-098B-436B-8CF6-7759B1216D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282111a194463"/>
          <a:stretch xmlns:a="http://schemas.openxmlformats.org/drawingml/2006/main"/>
        </p:blipFill>
        <p:spPr>
          <a:xfrm xmlns:a="http://schemas.openxmlformats.org/drawingml/2006/main">
            <a:off x="9473973" y="2047875"/>
            <a:ext cx="7960179" cy="5572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2634E-2AA9-4605-9183-39875C7F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8067675"/>
            <a:ext cx="50196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Real benchmark images. Recorded results.</a:t>
            </a:r>
          </a:p>
        </p:txBody>
      </p:sp>
    </p:spTree>
    <p:extLst>
      <p:ext uri="{BB962C8B-B14F-4D97-AF65-F5344CB8AC3E}">
        <p14:creationId xmlns:p14="http://schemas.microsoft.com/office/powerpoint/2010/main" val="181711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7150D-A4AC-4A34-9D6B-A683DB53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MInfoVisQA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CD6C5-08B0-4C89-8366-F4A4F6BD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57200"/>
            <a:ext cx="4038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SAME INFORMATION / NEW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5B17C-06FF-4AC9-A8F5-715A0FF2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57250"/>
            <a:ext cx="1691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553F9-A2F7-4741-8979-B1434F3D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20275"/>
            <a:ext cx="36195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Charts + visual tables  /  24 languages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1E670-DE06-4F64-82E1-6F8263A2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820275"/>
            <a:ext cx="8953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02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D8D42-EDC1-4A86-996E-44238E9C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3628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One chart. One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B21B7-FB61-4EE4-96E6-39728D0F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844867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On average, which season records the highest number of breakups?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51131-A8F2-42D5-ADE2-9BAFA14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00350"/>
            <a:ext cx="11811000" cy="6334125"/>
          </a:xfrm>
          <a:prstGeom xmlns:a="http://schemas.openxmlformats.org/drawingml/2006/main" prst="roundRect">
            <a:avLst>
              <a:gd name="adj" fmla="val 12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3D10B-7E1F-4711-878D-499D17CF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38475"/>
            <a:ext cx="2181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Japanese visual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E8429-A45A-47CE-95E1-C660E131AE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b65aabbc343db"/>
          <a:stretch xmlns:a="http://schemas.openxmlformats.org/drawingml/2006/main"/>
        </p:blipFill>
        <p:spPr>
          <a:xfrm xmlns:a="http://schemas.openxmlformats.org/drawingml/2006/main">
            <a:off x="3380826" y="3448050"/>
            <a:ext cx="6630498" cy="4810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48013-DB07-4972-A6C5-D684018B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477250"/>
            <a:ext cx="1790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B958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B958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75" b="1">
                <a:solidFill>
                  <a:srgbClr val="B95850"/>
                </a:solidFill>
                <a:latin typeface="Times New Roman"/>
                <a:ea typeface="Times New Roman"/>
                <a:cs typeface="Times New Roman"/>
              </a:rPr>
              <a:t>Autumn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AF1D5-564C-4DE0-A5AB-63CA0D9A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1866796" y="8653463"/>
            <a:ext cx="26940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5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F3C87-8BD8-4640-A107-E2B732BE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1866796" y="8653463"/>
            <a:ext cx="26940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5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216DB-C7A1-4814-B58E-111B88DD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4861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E9A06-7C6F-4018-A690-9C69B366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00500"/>
            <a:ext cx="1704975" cy="626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English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159D0-C02B-4149-BDA4-6C6CFF0A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010150"/>
            <a:ext cx="1104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0A9AE-38CE-47DE-B6CB-F524AED2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505450"/>
            <a:ext cx="2352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GPT-5.6-Luna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55EF2-C844-48C9-B80B-DCC18DC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524625"/>
            <a:ext cx="1628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REFERENCE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93236-C1C2-4CFA-BD97-36C59AC0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000875"/>
            <a:ext cx="1638300" cy="626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25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rPr>
              <a:t>Winter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4B914-E368-4E8F-9386-E86730F5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8115300"/>
            <a:ext cx="211455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rPr>
              <a:t>Only the visual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AA3EB-FE1E-453C-A441-5B2CF83E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8543925"/>
            <a:ext cx="24860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rPr>
              <a:t>language changes.</a:t>
            </a:r>
          </a:p>
        </p:txBody>
      </p:sp>
    </p:spTree>
    <p:extLst>
      <p:ext uri="{BB962C8B-B14F-4D97-AF65-F5344CB8AC3E}">
        <p14:creationId xmlns:p14="http://schemas.microsoft.com/office/powerpoint/2010/main" val="1302604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13CCE-325C-414E-852F-238CC81F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MInfoVisQA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283DC-AC54-44CC-8D90-737E4869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57200"/>
            <a:ext cx="4038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SAME INFORMATION / NEW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1BF9D-A9CF-4188-BB8A-B35F3AB0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57250"/>
            <a:ext cx="1691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E211D-990C-4DCB-A0F3-1BAF80CF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20275"/>
            <a:ext cx="36195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Charts + visual tables  /  24 languages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5A9D2-09F4-4DD5-A403-801EDC1B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820275"/>
            <a:ext cx="8953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03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8E158-FAF0-48E4-875E-1B85A3B5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1315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A language switch. A different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7496C-42E3-41A6-B108-939ECFB4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82677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Same seed, same English question, same model and recorded run.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405CE-49EA-4A0A-8755-AAB5EF4F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8143875" cy="5686425"/>
          </a:xfrm>
          <a:prstGeom xmlns:a="http://schemas.openxmlformats.org/drawingml/2006/main" prst="roundRect">
            <a:avLst>
              <a:gd name="adj" fmla="val 13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08569-C3D8-4A45-96A4-3D0B0CDA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English visual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D16D1-8612-4D2D-A06A-CDF164D5E7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74829b75c487f"/>
          <a:stretch xmlns:a="http://schemas.openxmlformats.org/drawingml/2006/main"/>
        </p:blipFill>
        <p:spPr>
          <a:xfrm xmlns:a="http://schemas.openxmlformats.org/drawingml/2006/main">
            <a:off x="1926998" y="3429000"/>
            <a:ext cx="5737679" cy="41624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DEE48-E8C5-47D7-A01F-7194841A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810500"/>
            <a:ext cx="1581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75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rPr>
              <a:t>Winter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1E36F-3F9B-4A52-95F0-1CCFF5B0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19233">
            <a:off x="8127427" y="8039100"/>
            <a:ext cx="128146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7D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449C8-E66B-47B0-A155-59740903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60540">
            <a:off x="8191412" y="7981950"/>
            <a:ext cx="25735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7D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00BCB-85B1-4CF5-AAA1-E6C816A8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781300"/>
            <a:ext cx="8143875" cy="5686425"/>
          </a:xfrm>
          <a:prstGeom xmlns:a="http://schemas.openxmlformats.org/drawingml/2006/main" prst="roundRect">
            <a:avLst>
              <a:gd name="adj" fmla="val 13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14E80-9DAF-49A6-A19F-EF5FDCA9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19425"/>
            <a:ext cx="2181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Japanese visual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C3C12-3835-4B37-8367-C3DE7C3243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1457c23da4168"/>
          <a:stretch xmlns:a="http://schemas.openxmlformats.org/drawingml/2006/main"/>
        </p:blipFill>
        <p:spPr>
          <a:xfrm xmlns:a="http://schemas.openxmlformats.org/drawingml/2006/main">
            <a:off x="10623323" y="3429000"/>
            <a:ext cx="5737679" cy="41624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0D912-F674-4518-BBD2-AC9C8F94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7810500"/>
            <a:ext cx="1790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B958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B958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75" b="1">
                <a:solidFill>
                  <a:srgbClr val="B95850"/>
                </a:solidFill>
                <a:latin typeface="Times New Roman"/>
                <a:ea typeface="Times New Roman"/>
                <a:cs typeface="Times New Roman"/>
              </a:rPr>
              <a:t>Autumn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DFFC9-C5CE-4E8C-8DB2-3F1F0614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6829321" y="7986713"/>
            <a:ext cx="26940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5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036A4-0AFE-42C3-92A3-9512522C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6829321" y="7986713"/>
            <a:ext cx="26940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85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08315A-8C65-43B8-AB3A-8CB9DA2A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01100"/>
            <a:ext cx="8562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Reference: Winter  |  Observed example; not a general language ranking.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05978-431F-4C51-A93A-458D6330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39250"/>
            <a:ext cx="47244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ChartQAPro source case: 32a59a1788ab3cc9f351</a:t>
            </a:r>
          </a:p>
        </p:txBody>
      </p:sp>
    </p:spTree>
    <p:extLst>
      <p:ext uri="{BB962C8B-B14F-4D97-AF65-F5344CB8AC3E}">
        <p14:creationId xmlns:p14="http://schemas.microsoft.com/office/powerpoint/2010/main" val="1577288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2EA601-80A4-46C7-A28A-52150C5E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MInfoVisQA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6040F-B0DB-4D40-B27F-FFA8EBD4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57200"/>
            <a:ext cx="4038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SAME INFORMATION / NEW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9216C-7459-4D04-BE4C-0F91B0F7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57250"/>
            <a:ext cx="1691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18E0B-7718-4259-8F98-3E2EFADE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20275"/>
            <a:ext cx="36195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Charts + visual tables  /  24 languages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B618D-B2CE-48F2-9E21-B10C4A61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820275"/>
            <a:ext cx="8953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04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E1BD9-0EE8-4056-8105-C0FB75B6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505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Beyond a single chart.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4156D-241A-49F6-878B-C38AC3ED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993457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Parallel chart and visual-table images preserve numerical content and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5F8EF-63D6-44AB-810E-CB5733F0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8143875" cy="4914900"/>
          </a:xfrm>
          <a:prstGeom xmlns:a="http://schemas.openxmlformats.org/drawingml/2006/main" prst="roundRect">
            <a:avLst>
              <a:gd name="adj" fmla="val 1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834A1-AC9E-46AF-A950-531BFAA0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ChartQA / grouped bars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C6C68-E4B3-4E58-81AF-D21B1E9997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c42085c6e4e64"/>
          <a:stretch xmlns:a="http://schemas.openxmlformats.org/drawingml/2006/main"/>
        </p:blipFill>
        <p:spPr>
          <a:xfrm xmlns:a="http://schemas.openxmlformats.org/drawingml/2006/main">
            <a:off x="2033588" y="3543300"/>
            <a:ext cx="5524500" cy="3867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67B0D-BD80-427D-B85A-0DB6D4FE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09875"/>
            <a:ext cx="8143875" cy="4914900"/>
          </a:xfrm>
          <a:prstGeom xmlns:a="http://schemas.openxmlformats.org/drawingml/2006/main" prst="roundRect">
            <a:avLst>
              <a:gd name="adj" fmla="val 1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F8EFF-B1B9-41AA-AB9A-C1E6BCB8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48000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TableVQA-Bench / visual table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1952C-A12F-40A5-B746-6AFF189726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7370685514af7"/>
          <a:stretch xmlns:a="http://schemas.openxmlformats.org/drawingml/2006/main"/>
        </p:blipFill>
        <p:spPr>
          <a:xfrm xmlns:a="http://schemas.openxmlformats.org/drawingml/2006/main">
            <a:off x="11254968" y="3543300"/>
            <a:ext cx="4474388" cy="3867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28DCA-48D5-4E48-A9C8-F8C10B06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58150"/>
            <a:ext cx="353377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rPr>
              <a:t>Visual language: Arabic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C02F2-5EF5-4F73-973A-48B5E084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820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1D26E-8631-40AC-AF55-9C760317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8677275"/>
            <a:ext cx="6000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DAAA3-62F1-403D-8A00-5C3C8BB0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5820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777D2-2E2B-4E28-AEFB-236AF504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8677275"/>
            <a:ext cx="6000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ZH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C941F-21DC-41C5-8D13-54BD7736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5820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9280D-1C46-4907-8D02-125CBC44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77275"/>
            <a:ext cx="5429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JA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7AEE43-B3FA-409B-8776-63ED3EDF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5820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B3AD1-8A7B-45E0-A336-4DBA0884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8677275"/>
            <a:ext cx="62865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KO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2EA88-13AA-4CDE-9766-1154F8B7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85820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70627-C45F-45CD-B2DB-8EC32516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8677275"/>
            <a:ext cx="5715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FR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C4AF05-DFED-4F7A-B293-33A714F3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85820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2E1B7B-52AE-41BD-9E00-4E0309B9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8677275"/>
            <a:ext cx="6000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83592-26DA-4A1E-9A77-A9AFA557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85820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9CD989-D4B8-4522-9BA7-B0D35028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8677275"/>
            <a:ext cx="55245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D2454A-CB21-42C8-828C-057C3C7F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85820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FDA0B-EB40-4535-8E60-A618F2EA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8677275"/>
            <a:ext cx="55245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PT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6F74AB-DFB4-4ED4-B3F8-ABEFF4FC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5820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1D41D6-92E6-4B4F-817C-83A1D6AC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8677275"/>
            <a:ext cx="6096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RU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2A9674-12D8-438B-930B-90BCD7CE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85820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27D8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8A39D8-941E-49F6-A2A1-E557D479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8677275"/>
            <a:ext cx="6191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F32F92-5EE2-406B-93CB-D55062B3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85820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590C3A-C708-4923-BF90-FF7275CE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8677275"/>
            <a:ext cx="5334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HI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A4EBB5-3A70-4135-A57F-514DE187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85820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166EC8-D506-4EB9-9193-2CF83EF9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75" y="8677275"/>
            <a:ext cx="5048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769991-ACFD-4E85-8976-E290D05E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392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070708-5460-43AC-B926-3138458F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9134475"/>
            <a:ext cx="6096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NL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E2939A-DAE1-442F-8244-8519E116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0392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03F0A4-CA86-417F-A272-E5F98A78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9134475"/>
            <a:ext cx="55245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PL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821AD9-029D-4786-952F-89C90859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90392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45F57A-AAE8-48F4-B872-70DD4F69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9134475"/>
            <a:ext cx="59055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TR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600BC7-A6FC-471C-8D8F-975AB02B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0392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27A46B-B03B-4A49-821C-C6CC9E39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9134475"/>
            <a:ext cx="5334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VI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682BC3-109E-45F7-B064-55AC7913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90392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916B93-6CA4-456A-BE4B-44472BBB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9134475"/>
            <a:ext cx="5334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0B2EBC-8ED8-406C-AC5E-1516588B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90392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39634B-9A46-4E77-93DA-D83FFD5F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9134475"/>
            <a:ext cx="6000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TH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B36CD9-612E-4AC7-9737-E5D1E19E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0392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DDDA0B-30E2-4B08-A23E-309335F6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9134475"/>
            <a:ext cx="6381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SW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E63870-C78D-46C8-9851-8D1EDF9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90392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3BC1B8-FAA5-470C-8731-26C247B8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9134475"/>
            <a:ext cx="5810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FA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857747-975F-4169-BDDB-0679708B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90392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BC49FF-07A6-48C9-A570-46DCBAE3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9134475"/>
            <a:ext cx="6191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UR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F9F351-A1B7-4385-B5EB-8E3758C7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90392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45B398-F858-4A28-A525-345611CF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9134475"/>
            <a:ext cx="6096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BN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50B8E2-8F9C-4403-9D54-508E1861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90392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7B2726-A7C1-4044-AD66-96E77268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9134475"/>
            <a:ext cx="6000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TA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5048F5-D9FD-4975-8192-704A1814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9039225"/>
            <a:ext cx="123825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65EDF3-0E62-4963-8030-E1D13758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175" y="9134475"/>
            <a:ext cx="5715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TE</a:t>
            </a:r>
          </a:p>
        </p:txBody>
      </p:sp>
    </p:spTree>
    <p:extLst>
      <p:ext uri="{BB962C8B-B14F-4D97-AF65-F5344CB8AC3E}">
        <p14:creationId xmlns:p14="http://schemas.microsoft.com/office/powerpoint/2010/main" val="221781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9100CE-7294-49FB-8DC2-E51C0D00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MInfoVisQA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AE3C2-4829-4155-9CA8-7B18AD5B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57200"/>
            <a:ext cx="4038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SAME INFORMATION / NEW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BDFE5-F3EF-4904-A436-7436B5CA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57250"/>
            <a:ext cx="1691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E64CA-CD38-45DE-8AD4-A76E02B4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20275"/>
            <a:ext cx="36195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Charts + visual tables  /  24 languages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846C5-BBEA-47FE-B4D1-D7A1B6EF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820275"/>
            <a:ext cx="8953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05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65AA3-5AC2-4A96-B50F-8E5DE66E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1029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Language profiles reveal the variation.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E3ED4-91E7-4B6C-9AC1-A4CDD22D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97917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LQA accuracy (%) / question and answer language match the visual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4F8F9-4C93-42B7-88AC-323F7FBA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48000"/>
            <a:ext cx="2209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24-language 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236C4-42A6-4366-9DD3-E0BB5B08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76771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E2082-8412-4DFE-8BD7-4BF2FC5A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3929063"/>
            <a:ext cx="5429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5EA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35678-FCB5-424D-9E0B-DFE01F87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71900"/>
            <a:ext cx="204787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925EA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925E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925EA7"/>
                </a:solidFill>
                <a:latin typeface="Times New Roman"/>
                <a:ea typeface="Times New Roman"/>
                <a:cs typeface="Times New Roman"/>
              </a:rPr>
              <a:t>GPT-6-Astra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E2B9A-E99F-4EE3-AA26-AE7D0E40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75285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925EA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925E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925EA7"/>
                </a:solidFill>
                <a:latin typeface="Times New Roman"/>
                <a:ea typeface="Times New Roman"/>
                <a:cs typeface="Times New Roman"/>
              </a:rPr>
              <a:t>82.8%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8713B-9C04-4CB9-9D73-F596A5CE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14875"/>
            <a:ext cx="76771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9D3C8-3F3D-42BF-A3A5-040BE689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5100638"/>
            <a:ext cx="5429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7D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7EBC5-C137-4673-94A5-44FEBA15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943475"/>
            <a:ext cx="260032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rPr>
              <a:t>Gemini-3.8-Flash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59585-6A9B-4DF2-866C-7BEB8974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924425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rPr>
              <a:t>80.4%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86861-3CDA-41F4-8762-C544136D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86450"/>
            <a:ext cx="76771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5A8B3-AB08-450A-9069-CB5BEEA8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6272213"/>
            <a:ext cx="5429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67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3854B-8914-4E9F-9B7A-95AAA243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115050"/>
            <a:ext cx="223837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GPT-5.6-Luna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BF199-272B-4D6A-AA4A-8CC8F9B1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609600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74.9%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31624-0498-47FC-BE1B-D194DBC8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058025"/>
            <a:ext cx="76771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7E946-7B41-41C2-AD96-0773253C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7443788"/>
            <a:ext cx="5429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E4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9061A-DB01-4997-BFE7-6C8FD0E8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286625"/>
            <a:ext cx="193357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C99E4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C99E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C99E48"/>
                </a:solidFill>
                <a:latin typeface="Times New Roman"/>
                <a:ea typeface="Times New Roman"/>
                <a:cs typeface="Times New Roman"/>
              </a:rPr>
              <a:t>Qwen3.5-9B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D0409-A9B2-4450-8B2A-F3B1F070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7267575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C99E4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C99E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C99E48"/>
                </a:solidFill>
                <a:latin typeface="Times New Roman"/>
                <a:ea typeface="Times New Roman"/>
                <a:cs typeface="Times New Roman"/>
              </a:rPr>
              <a:t>50.4%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82747-9817-4132-821E-4579593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639175"/>
            <a:ext cx="42100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Four selected models from the paper.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6120C-7B6D-43F3-A257-5C18F983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48750"/>
            <a:ext cx="392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Means use published, rounded scores.</a:t>
            </a:r>
          </a:p>
        </p:txBody>
      </p:sp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ECE35B2B-595F-4CC6-BB0E-A24F8FA84298}"/>
              </a:ext>
            </a:extLst>
          </p:cNvPr>
          <p:cNvGraphicFramePr/>
          <p:nvPr/>
        </p:nvGraphicFramePr>
        <p:xfrm>
          <a:off xmlns:a="http://schemas.openxmlformats.org/drawingml/2006/main" x="1600200" y="2762250"/>
          <a:ext xmlns:a="http://schemas.openxmlformats.org/drawingml/2006/main" cx="7486650" cy="638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6ceca8817f4905"/>
          </a:graphicData>
        </a:graphic>
      </p:graphicFrame>
    </p:spTree>
    <p:extLst>
      <p:ext uri="{BB962C8B-B14F-4D97-AF65-F5344CB8AC3E}">
        <p14:creationId xmlns:p14="http://schemas.microsoft.com/office/powerpoint/2010/main" val="190994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055C0-3FCF-46C7-89A5-CA1F94ED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MInfoVisQA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EEEB-6666-43DD-89C2-37E88C5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57200"/>
            <a:ext cx="40386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SAME INFORMATION / NEW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25E5E-8E73-4612-826F-E0B6E929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57250"/>
            <a:ext cx="1691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A9248-F54C-4B98-909C-A2970538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20275"/>
            <a:ext cx="36195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Charts + visual tables  /  24 languages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9AEAD-7252-4283-88E4-D8031CB8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820275"/>
            <a:ext cx="8953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06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9C239-B829-476B-B47F-ACBF465C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9867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45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One benchmark. Two ways to 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A1A4E-3720-4F4F-A876-365E23D5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6840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566D1-CD27-496C-A0BC-20035186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1133475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327D83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327D83"/>
                </a:solidFill>
                <a:latin typeface="Comic Sans MS"/>
                <a:ea typeface="Comic Sans MS"/>
                <a:cs typeface="Comic Sans MS"/>
              </a:defRPr>
            </a:pPr>
            <a:r>
              <a:rPr sz="3150" b="1">
                <a:solidFill>
                  <a:srgbClr val="327D83"/>
                </a:solidFill>
                <a:latin typeface="Comic Sans MS"/>
                <a:ea typeface="Comic Sans MS"/>
                <a:cs typeface="Comic Sans MS"/>
              </a:rPr>
              <a:t>LQA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80BAA-2188-4181-92D6-CBF2FB74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rPr>
              <a:t>Visual = question = answer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73431-80ED-4387-8302-421DCD65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943225"/>
            <a:ext cx="15716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24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BF198-C702-424C-945B-6D1AA409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6840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B98C5-D792-4CE2-AF9C-C3A788E8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20015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315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XQA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7C0F7-8837-4E1A-9361-48B267FF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24375"/>
            <a:ext cx="7067550" cy="493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0">
                <a:solidFill>
                  <a:srgbClr val="203849"/>
                </a:solidFill>
                <a:latin typeface="Times New Roman"/>
                <a:ea typeface="Times New Roman"/>
                <a:cs typeface="Times New Roman"/>
              </a:rPr>
              <a:t>Fixed English or Chinese QA; change the visual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1DD09-73E1-4C48-AB25-8A9D7836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162550"/>
            <a:ext cx="19621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23 + 23 settings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F4E1E-7C72-4159-BF03-76D0F375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666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0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60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128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0623A-6968-45C4-9583-456346ED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15200"/>
            <a:ext cx="20193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seed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6ADCC-6DDC-4516-9557-2EAD3F93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534150"/>
            <a:ext cx="1200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0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60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908B5-89F3-45BF-AB02-8385F76E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315200"/>
            <a:ext cx="14763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languages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8E5C0-0BBC-438A-A018-3DDCD98F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24625"/>
            <a:ext cx="24669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0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60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8,960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179D2-D2CB-4E4D-9C04-4D9C6885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315200"/>
            <a:ext cx="25050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QA configurations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C2064-2940-438D-8D3D-70E99CBD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534150"/>
            <a:ext cx="1200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60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defRPr>
            </a:pPr>
            <a:r>
              <a:rPr sz="6000" b="1">
                <a:solidFill>
                  <a:srgbClr val="154677"/>
                </a:solidFill>
                <a:latin typeface="Comic Sans MS"/>
                <a:ea typeface="Comic Sans MS"/>
                <a:cs typeface="Comic Sans MS"/>
              </a:rPr>
              <a:t>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A37FB-357D-4B49-9D8D-F673CA38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315200"/>
            <a:ext cx="23717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607582"/>
                </a:solidFill>
                <a:latin typeface="Times New Roman"/>
                <a:ea typeface="Times New Roman"/>
                <a:cs typeface="Times New Roman"/>
              </a:rPr>
              <a:t>evaluated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D41E47-7FFB-45C3-9C73-B89F05E8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29625"/>
            <a:ext cx="859155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327D83"/>
                </a:solidFill>
                <a:latin typeface="Times New Roman"/>
                <a:ea typeface="Times New Roman"/>
                <a:cs typeface="Times New Roman"/>
              </a:rPr>
              <a:t>Explore the data. Compare language robustness.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9F9AB-91BB-4FED-B5DF-7E31E6A5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67800"/>
            <a:ext cx="44196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154677"/>
                </a:solidFill>
                <a:latin typeface="Times New Roman"/>
                <a:ea typeface="Times New Roman"/>
                <a:cs typeface="Times New Roman"/>
              </a:rPr>
              <a:t>arnodjiang.github.io/MInfoVisQA</a:t>
            </a:r>
          </a:p>
        </p:txBody>
      </p:sp>
    </p:spTree>
    <p:extLst>
      <p:ext uri="{BB962C8B-B14F-4D97-AF65-F5344CB8AC3E}">
        <p14:creationId xmlns:p14="http://schemas.microsoft.com/office/powerpoint/2010/main" val="1147728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2026-10-13T09:09:21.4640000Z</dcterms:created>
  <dcterms:modified xsi:type="dcterms:W3CDTF">2026-10-13T09:09:21.4640000Z</dcterms:modified>
</coreProperties>
</file>